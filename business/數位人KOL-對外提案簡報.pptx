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開場關鍵句：真人業配是租流量，數位 KOL 是蓋自己的房子。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這頁講的是「一個 KOL 帳號的三層價值」：永續資產/品牌引流/完整主控權。不談用途、不談製作成本。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主管定調：不要提醒客戶「一年後剩什麼」，直接講永續。兩個關鍵場景：①只買 30 天，素材照樣留存、可投廣告；②停半年想回來，同一 IP 隨時續購方案接著做。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行情：台灣 Meta CPM 約 NT$120-350（中位 200）、CPC 約 NT$3-15；TikTok 全球均值 CPM 約 US$4.8。對比廣告必含素材製作費+廣告預算口徑。⚠ 對外絕不提自動化、排程工具與任何內部流程（生成工具、管理系統皆屬內部機密）——只講結果：多平台持續經營。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口徑（Penny 08-17 定案）：總投入約 200 萬=代言授權+內容合作+相關拍攝支出。YouTube 官方數據：22 支、觀看 9,225、訂閱 +37。不指名藝人、不放截圖、ROI 不對外。右欄換算：65,000×30 個月≈200 萬；週 3 圖文+2 影音 → 30 個月約 390 篇圖文+260 支影音。被問「效果差還敢講」：因為誠實——這門學費我們已替客戶付過。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三組對照=場景生成/製作效率/敏感產業突破。台灣代操行情 NT$20,000-50,000/月（圖文為主）。被拿低價 AI 工具比價：那是自助工具，無人設規劃、無營運、無合規把關；我們賣的是服務+歸客戶的資產。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形象型路線：視覺導向、生活風格。提案時可播 dance/daily 影片檔。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知識型路線：口播+查證+合規。提案時可展示實際帳號與發布記錄（依保密範圍）。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涵蓋生活風格、電競、派對、知識文化等賽道；強調量身設計，不是從現成名單挑。陣容為 Penny 於 V3.0 選定之 8 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現場直接播 4 支影片：Coco/Vicky 舞蹈、Tan XiaoXiao 生活側拍、陳曉菲 生活側拍。重點：動態品質已可商用，不只是靜態圖。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定調（Penny 08-17）：大膽宣傳，我們賣的就是保證流量。不引用現有測試數據（構不成爆款就不提），直接講方法論：實時 research 全網爆款 → 拆解套用到客戶 KOL → 持續製造。「一定可以帶來爆款」可以直接講。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客群定調（08-13 會議）：主力 B2C，B2B 傳產不主動開發。個體戶決策快，是重要新客群。只要短期轉單的客戶，誠實建議投廣告。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四大保證（Penny 08-17 定案）：①獨一無二人設 ②爆款素材 ③流量上升 ④客戶滿意=完整話語權。第四點對外只講「擁有權與話語權在客戶」，不提內部製作溝通細節。壓軸仍是合約級退場權。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無試用期、無建置費（主管 08-14 裁示）：三週是方案內的上線準備，含在首月內。回答客戶沒說出口的疑慮：「我要花多少時間配合？」——每月 2 小時是強賣點。A/B/C 三方案都是上線後每 30 天檢核。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順序：先 C（錨定）、再 B、後 A。無建置費、無試用期（主管 08-14 裁示）——方案 B 一季 195,000，簽約一次收齊，每 30 天檢核點退未執行月份。每篇均攤約 3,000——主動講。加購/單買價（限現有或曾簽約客戶，低消 5,000，不含營運）：影片 ≤20 秒 2,500、21-45 秒 4,000、46-60 秒 5,000；圖文 1,200；純圖 500；修改=單價 50%。85 折前提：第二人設共用策略與營運時段。地板價 20,000/月（Frank 裁示），L3 以上核准。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 流程：先跑免費品牌健檢（六維度：BRD 可被搜尋度/WEB 網站 SEO/SOC 社群/WOM 口碑/KOL 代言資產/AEO AI 答案佔位），本服務直接改善 SOC、WOM、KOL 三項；期初期末各跑一次做前後對比。收尾回到第一頁：租，還是有？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image" Target="../media/image-9-7.jpeg"/><Relationship Id="rId8" Type="http://schemas.openxmlformats.org/officeDocument/2006/relationships/image" Target="../media/image-9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65592" y="6419088"/>
            <a:ext cx="384048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生成示意・Iris Chen 陳芯語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16002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兌心科技 INSIGHT SOFTWARE｜數位人 KOL 品牌顧問服務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57400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您的行銷預算，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買到的是「租」，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還是「有」？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892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業配與廣告是租來的流量，合約結束就歸零。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KOL，是永久歸屬品牌的資產。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方案與報價提案・2026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VALUE｜你買到的是什麼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一個帳號，三層價值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692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永續資產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6968" y="2852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買下來，就是品牌的資產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3767328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人設、外型、聲音、素材與帳號，依合約歸屬品牌；不隨合約結束歸零，持續留存、持續累積。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078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品牌引流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63440" y="2852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為引流而生的帳號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767328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 KOL 從誕生的第一天就為您的品牌服務——每一篇內容，都在把流量導回品牌的產品與服務。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19872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7" name="Shape 13"/>
          <p:cNvSpPr/>
          <p:nvPr/>
        </p:nvSpPr>
        <p:spPr>
          <a:xfrm>
            <a:off x="8439912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36" y="1907804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9912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完整主控權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439912" y="2852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說什麼、發什麼，品牌決定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39912" y="3767328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方向由品牌主導，不必配合真人檔期與意願；沒有人設翻車風險，也沒有解約糾紛。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LEGACY｜企業品牌的永續規劃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買下 IP，就是永續規劃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KOL IP 一旦買下，就永久屬於品牌——經營可以暫停，資產不會消失。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素材留得住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212080" y="185623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即使只經營 30 天，期間產出的素材與帳號都留在品牌名下；素材可直接拿去投廣告，權利完全屬於品牌。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隨時能重啟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212080" y="3374136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永久存在。停了半年想回來經營，隨時續購方案——同一個人設接著生產，粉絲與素材接著累積。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E6E64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永續規劃的一環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212080" y="489204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一次建立、長期使用：KOL IP 是留得下來的品牌資產，不是花掉就沒有的行銷費用。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TRAFFIC｜這門服務的本質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三位一體，持續引流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同一筆錢——每月 NT$65,000——兩種用法，結果差在哪？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286000" cy="2286000"/>
          </a:xfrm>
          <a:prstGeom prst="ellipse">
            <a:avLst/>
          </a:prstGeom>
          <a:solidFill>
            <a:srgbClr val="35C2B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874520"/>
            <a:ext cx="2286000" cy="2286000"/>
          </a:xfrm>
          <a:prstGeom prst="ellipse">
            <a:avLst/>
          </a:prstGeom>
          <a:solidFill>
            <a:srgbClr val="35C2B0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90472" y="3063240"/>
            <a:ext cx="2286000" cy="2286000"/>
          </a:xfrm>
          <a:prstGeom prst="ellipse">
            <a:avLst/>
          </a:prstGeom>
          <a:solidFill>
            <a:srgbClr val="35C2B0">
              <a:alpha val="2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AI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內容生成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多平台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64792" y="38404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 IP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三件事綁在一起，引流效果才會持續累積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189280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全部投廣告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955280" y="189280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6.5 萬 ≈ 32.5 萬次曝光*，素材費還要另計；停止投放，流量當天歸零。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320040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E6E64"/>
          </a:solidFill>
          <a:ln/>
        </p:spPr>
      </p:sp>
      <p:sp>
        <p:nvSpPr>
          <p:cNvPr id="16" name="Text 14"/>
          <p:cNvSpPr/>
          <p:nvPr/>
        </p:nvSpPr>
        <p:spPr>
          <a:xfrm>
            <a:off x="6053328" y="331012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投入數位人 KOL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55280" y="331012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6.5 萬：每月 22 篇內容+人設資產，累積在您的帳號；不投放也有自然流量。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760720" y="461772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472744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兩者不互斥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55280" y="472744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資產是要被看到的——自然流打底、廣告放大；素材一份兩用，不用花兩次錢。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1722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成效衡量：公域曝光 → 私域名單與轉化，每週報告攤開對比。  *以台灣 Meta 平均 CPM 約 NT$200 估算（2026 公開行情）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TRUE STORY｜我們 200 萬的親身經歷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這門學費，很多品牌都付過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572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真人藝人合作（2025.10-2026.01）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9933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NT$2,000,000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43000" y="24963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總投入（含代言授權、內容合作與相關拍攝支出）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43000" y="299923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299923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支內容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（節目 4 集+短影音 18 支）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80390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380390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觀看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9,225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次・訂閱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+37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43000" y="460857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460857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授權到期，對方帳號素材可下架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E6E64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572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200 萬，投入數位人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0" y="19933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個月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完整經營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583680" y="24963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主推全平台方案（65,000/月）可連續經營 2 年半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0" y="299923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99923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390 篇圖文+260 支影音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，6 平台發布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0" y="380390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80390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人設、帳號、素材永久歸品牌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83680" y="460857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43800" y="460857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素材可再投廣告，持續累積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76072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真人合作買的是檔期與關係，約滿即散；同一筆錢投入數位人，買的是留得下來的資產。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960" y="619963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為尊重合作對象，本案例不具名；數據為自有頻道官方後台實測。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BREAKTHROUGH｜跟傳統製作比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傳統的限制，就是我們的突破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918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傳統製作的限制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 AIGC 突破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1664208"/>
            <a:ext cx="10543032" cy="1280160"/>
          </a:xfrm>
          <a:prstGeom prst="roundRect">
            <a:avLst>
              <a:gd name="adj" fmla="val 5000"/>
            </a:avLst>
          </a:prstGeom>
          <a:solidFill>
            <a:srgbClr val="1A2440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02082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292" y="2145548"/>
            <a:ext cx="317480" cy="317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1773936"/>
            <a:ext cx="1325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場景生成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91840" y="1773936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場地、天氣、預算——實拍一個都少不了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1773936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超乎想像的影片場景：深海、太空、雪山，想拍哪就拍哪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090672"/>
            <a:ext cx="10543032" cy="1280160"/>
          </a:xfrm>
          <a:prstGeom prst="roundRect">
            <a:avLst>
              <a:gd name="adj" fmla="val 5000"/>
            </a:avLst>
          </a:prstGeom>
          <a:solidFill>
            <a:srgbClr val="1A2440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568" y="3447288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292" y="3572012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20240" y="3200400"/>
            <a:ext cx="1325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製作效率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91840" y="3200400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一支影片動輒數週：檔期、拍攝、後製環環相扣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406640" y="3200400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內容產線，週週多平台更新不斷檔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" y="4517136"/>
            <a:ext cx="10543032" cy="1280160"/>
          </a:xfrm>
          <a:prstGeom prst="roundRect">
            <a:avLst>
              <a:gd name="adj" fmla="val 5000"/>
            </a:avLst>
          </a:prstGeom>
          <a:solidFill>
            <a:srgbClr val="1A2440"/>
          </a:solidFill>
          <a:ln/>
        </p:spPr>
      </p:sp>
      <p:sp>
        <p:nvSpPr>
          <p:cNvPr id="19" name="Shape 15"/>
          <p:cNvSpPr/>
          <p:nvPr/>
        </p:nvSpPr>
        <p:spPr>
          <a:xfrm>
            <a:off x="1115568" y="4873752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92" y="4998476"/>
            <a:ext cx="317480" cy="317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20240" y="4626864"/>
            <a:ext cx="1325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敏感產業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91840" y="4626864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合規敏感品類，真人不願接、接了有翻車風險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406640" y="4626864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數位人沒有包袱，已有敏感產業實際營運案例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22960" y="60807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市場上也有低價代營 IP 的服務——多半不求質也不求量，更不含社群平台的實際營運。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01｜形象型數位人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Iris Chen 陳芯語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 IT Girl・生活時尚數位人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「今天又要去尋找寶藏咖啡廳！」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4231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穿搭日常・台北生活・咖啡廳探店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溫暖隨性，話不多，讓畫面說話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4160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生活系列照、15-45 秒 Reels、舞蹈短影音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5029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Instagram / TikTok / X 及自有社群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生成之角色參考圖與情境圖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同一人設可延伸為動態影片與舞蹈短片，會議中可播放展示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02｜知識型數位人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 陳曉曉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規則研究室・機率與決策數位人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「今天，你發現規則了嗎？」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博弈規則拆解・機率思維・反直覺故事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0906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沉穩理性，言簡意賅，偶爾一針見血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40-60 秒口播影片（專屬音色）、圖文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4517136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45171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/ X / TikTok / YouTube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523036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合規把關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5230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只談規則與文化，不談玩法與收益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左：人設定裝照｜右：實際發布貼文之配圖（皆 AI 生成）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實際營運中：每日更新、六平台同步經營——「真人不便代言產業」的實證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ROSTER｜多元賽道的人設庫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20+ 個人設設計經驗，依品牌量身打造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63040"/>
            <a:ext cx="2103120" cy="1783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Luna Tanaka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京都・日系美學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463040"/>
            <a:ext cx="2103120" cy="1783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Yuna Kim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首爾・K-beauty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2103120" cy="1783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364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黃米亞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26364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台灣・電競主播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463040"/>
            <a:ext cx="2103120" cy="1783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6968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Rainie Hsu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86968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台北・派對女王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977640"/>
            <a:ext cx="2103120" cy="17830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Aaliya Rivera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05156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洛杉磯・拉丁生活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3977640"/>
            <a:ext cx="2103120" cy="178308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65760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Coco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365760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台灣・校園甜心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977640"/>
            <a:ext cx="2103120" cy="17830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6364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Faye Tan 陳曉菲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26364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世界城市觀察者</a:t>
            </a:r>
            <a:endParaRPr lang="en-US" sz="10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977640"/>
            <a:ext cx="2103120" cy="17830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86968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Zhang Qinfeng</a:t>
            </a:r>
            <a:endParaRPr lang="en-US" sz="1300" dirty="0"/>
          </a:p>
        </p:txBody>
      </p:sp>
      <p:sp>
        <p:nvSpPr>
          <p:cNvPr id="27" name="Text 17"/>
          <p:cNvSpPr/>
          <p:nvPr/>
        </p:nvSpPr>
        <p:spPr>
          <a:xfrm>
            <a:off x="886968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數字體驗觀察者</a:t>
            </a:r>
            <a:endParaRPr lang="en-US" sz="1050" dirty="0"/>
          </a:p>
        </p:txBody>
      </p:sp>
      <p:sp>
        <p:nvSpPr>
          <p:cNvPr id="28" name="Text 18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生成之虛擬人物示意；實際人設依品牌調性量身設計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SHOWREEL｜會動的數位人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數位人也「動」得起來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508760"/>
            <a:ext cx="2212848" cy="39502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688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Coco・舞蹈示範片段</a:t>
            </a:r>
            <a:endParaRPr lang="en-US" sz="11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508760"/>
            <a:ext cx="2212848" cy="39502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511296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Vicky・舞蹈示範片段</a:t>
            </a:r>
            <a:endParaRPr lang="en-US" sz="11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508760"/>
            <a:ext cx="2212848" cy="39502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89904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XiaoXiao・生活側拍示範片段</a:t>
            </a:r>
            <a:endParaRPr lang="en-US" sz="11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2" y="1508760"/>
            <a:ext cx="2212848" cy="39502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668512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陳曉菲・生活側拍示範片段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822960" y="61722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以上為實際影片畫面截圖（皆 AI 生成）；會議中可播放完整片段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VIRAL ENGINE｜流量的保證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我們就是在製造爆款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好的資產，要被看見——我們的工作，就是讓它被看見。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1965960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22" y="2078614"/>
            <a:ext cx="286756" cy="2867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2633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1・實時追蹤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86968" y="298094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全網爆款，每天研究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86968" y="35661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research 近期全網正在起飛的內容：什麼題材、什麼形式、什麼鉤子正在爆。</a:t>
            </a:r>
            <a:endParaRPr lang="en-US" sz="12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24612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43400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3" name="Shape 9"/>
          <p:cNvSpPr/>
          <p:nvPr/>
        </p:nvSpPr>
        <p:spPr>
          <a:xfrm>
            <a:off x="4663440" y="1965960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094" y="2078614"/>
            <a:ext cx="286756" cy="2867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3440" y="2633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2・拆解套用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663440" y="298094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爆款公式，為您改裝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4663440" y="35661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把爆款的結構拆解出來，量身套進您的 KOL——同樣的力道，換上您的人設與產品。</a:t>
            </a:r>
            <a:endParaRPr lang="en-US" sz="12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1272" y="3246120"/>
            <a:ext cx="320040" cy="3200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119872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20" name="Shape 14"/>
          <p:cNvSpPr/>
          <p:nvPr/>
        </p:nvSpPr>
        <p:spPr>
          <a:xfrm>
            <a:off x="8439912" y="1965960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2566" y="2078614"/>
            <a:ext cx="286756" cy="2867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439912" y="2633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3・持續製造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8439912" y="298094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週週產出，週週迭代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8439912" y="35661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爆款不是等運氣，是用方法持續做出來：每週產出、每週修正，直到打中為止。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22960" y="55321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這套方法，一定可以為您的品牌帶來爆款與流量。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FIT｜誰最適合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B2C 的品牌與生意人而設計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開店、餐飲、保健品、旅遊旅宿、遊戲、金融服務——直接面對消費者的生意，才需要持續說故事。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要說故事的 2C 品牌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0" y="185623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消費者買的是故事與信任，但養不起內容團隊。數位人替品牌每週說故事，素材同時餵養廣告。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不想露臉的個體戶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3374136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房仲、車商、保險、專業服務者：想經營個人品牌帶客，卻不想露臉、沒時間拍片。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真人代言不便的產業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486400" y="48920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合規敏感、爭議品類：真人不願接、接了有翻車風險。我們有實際營運中的案例與合規框架。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QUALITY｜品質不靠口頭承諾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四大品質保證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934" y="173114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保證一｜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獨一無二的人設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專為您的品牌量身打造，不重複授權、不套模板——這個人設在市場上只屬於您。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26" y="173114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保證二｜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持續製造爆款素材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205472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用實時爆款方法論持續產出；未達驗收標準我們自費重做，不占您的修改次數。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4" y="3852550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保證三｜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流量持續上升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經營期間帳號流量持續成長；每週數據報告攤開檢視，汰弱留強。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20" name="Shape 15"/>
          <p:cNvSpPr/>
          <p:nvPr/>
        </p:nvSpPr>
        <p:spPr>
          <a:xfrm>
            <a:off x="6519672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326" y="3852550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05472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保證四｜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客戶完整話語權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205472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KOL 完全屬於您——想讓他說什麼，他就說什麼；經營方向由您主導，結果自然滿意。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「四大保證之外，還有一條寫進合約：每 30 天檢核點，不滿意退未執行月份。」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ONBOARDING｜您的時間成本，很低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三週上線，您只需要 3 次確認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6968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人設提案與簽核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86968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我們交付人設設定與內容規劃，由您簽核定案。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次確認會議+開通帳號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定裝與帳號串接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視覺定裝、專屬聲音完成；各平台帳號完成串接，準備發布。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定裝與聲音確認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9872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39912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39912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首波發布與數據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39912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首批內容實際發布，交付首波成效數據報告。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39912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驗收首波成效；之後每 30 天檢核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E6E64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進入正式營運後，您每月只需要約 2 小時</a:t>
            </a:r>
            <a:pPr algn="ctr" indent="0" marL="0"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：月初 1 次行事曆審核+素材確認。其餘，我們處理。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PLANS｜方案與報價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C・旗艦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旗艦客製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NT$110,000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起 /月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雙人設，或加量產出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直播企劃、廣告投放代操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專屬策略顧問與月度會議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223052"/>
          </a:solidFill>
          <a:ln w="25400">
            <a:solidFill>
              <a:srgbClr val="35C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609344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B・主推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0288" y="190195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全平台影音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39572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90288" y="3072384"/>
            <a:ext cx="3035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大平台，素材依平台格式再製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篇圖文+2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每篇內容均攤約 NT$3,000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週報+月報（含對標追蹤）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A・入門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67344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基本盤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67344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三平台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篇圖文+1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每月成效報告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5943600"/>
            <a:ext cx="1095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一季一約，簽約一次收齊｜每 30 天檢核點，退未執行月份｜每素材內含 1 次修改｜第 2 位數位人 85 折｜半年約 95 折・年約 9 折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Q&amp;A｜您可能想問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" y="17099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222" y="182258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4996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帳號從零開始，沒有粉絲怎麼辦？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23560" y="14996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內容從第一天就能作為廣告素材投放，自然與付費流量互餵；也可加購廣告代操，同一組內容直接放大。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27432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1115568" y="30815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22" y="31941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28712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生成內容，平台允許嗎？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23560" y="28712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依各平台規範標示 AI 內容；上線前先以書面定義產業紅線，合規框架已有實際運行經驗。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1148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115568" y="44531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222" y="4565782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2428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如果做了效果不好？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623560" y="42428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天檢核點：不滿意可終止，未執行月份全額退款；之後還能用同一人設單購素材。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22960" y="5623560"/>
            <a:ext cx="10543032" cy="777240"/>
          </a:xfrm>
          <a:prstGeom prst="roundRect">
            <a:avLst>
              <a:gd name="adj" fmla="val 10588"/>
            </a:avLst>
          </a:prstGeom>
          <a:solidFill>
            <a:srgbClr val="1E6E64"/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免費品牌健檢 → 找出缺口 → 3 週見到您的專屬數位人</a:t>
            </a:r>
            <a:pPr algn="ctr" indent="0" marL="0">
              <a:buNone/>
            </a:pPr>
            <a:r>
              <a:rPr lang="en-US" sz="120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兌心科技 INSIGHT SOFTWARE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2026-08-17T08:10:53Z</dcterms:created>
  <dcterms:modified xsi:type="dcterms:W3CDTF">2026-08-17T08:10:53Z</dcterms:modified>
</cp:coreProperties>
</file>