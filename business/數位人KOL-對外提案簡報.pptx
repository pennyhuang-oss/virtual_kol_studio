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開場關鍵句:真人業配是租流量,數位 KOL 是蓋自己的房子。先讓客戶意識到「合約結束後剩下什麼」,再進價值說明。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關鍵句:每篇內容含策略與營運不到三千元——外面單拍一支影片一萬五起跳。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重點:真人與廣告買的是「觸及」,我們賣的是「資產」。客戶只要短期觸及→誠實告訴他廣告更適合(建立信任)。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客戶若同時在比價其他代操 agency,這頁把差異化收斂成五行:代言人資產、影音內建、自動化、敏感產業、一年後歸屬。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形象型路線:視覺導向、生活風格。提案時可播 dance/daily 影片檔(repo 內 kols/iris-chen/videos)。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知識型路線:口播+查證+合規。這就是第 7 頁「真人不便代言產業」的實證,提案時可展示實際帳號與發布記錄(依保密範圍)。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重點不是數字大小,是「有一套從零找出有效內容的系統」。被問細節時的真實案例:純生活紀錄類互動率 &lt;1% → 全面改用反直覺鉤子公式;對標帳號研究後配圖改圖表/縮圖風格;TikTok 觸及是其他平台 3-5 倍所以剪輯資源重壓 TikTok。數據口徑:111 篇為三人設全平台已發布素材(7/15-8/7);IG 冷啟動觸及為 7/28-8/9 單平台自然數據。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涵蓋生活風格、知識文化、健身、美妝等賽道;強調「依品牌需求量身設計」而不是從現成名單挑。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依客戶產業把對應那一列講深。若客戶只要短期轉單→誠實建議投廣告,省掉一季就終止的循環。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回答「AI 無效產出」疑慮:四道機制一道比一道硬,最後一道是合約級退場權。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關鍵句:先花 6 萬,3 週後看到您的 KOL 和 6 篇實際內容+數據,再決定要不要包季。付款結構:Pilot 60K 簽約收;季約啟動只收首月 65K;通過 30 天檢核點才收剩餘 130K——客戶最大試錯成本 125K,且每一段都先看到東西才付下一段。談判讓步工具(不主動給):Pilot 結束 7 天內簽季約,60K 折抵 20K。帳號開通說明(被問到再展開):帳號由客戶名義開通、Email/門號由客戶提供,我們給逐平台開通指引並全程協助;好處是帳號歸屬從第一天就清楚,合約結束不需要任何移交。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回答客戶沒說出口的疑慮:「我要花多少時間配合?」——每月 2 小時是強賣點,對比自建小編團隊或跟真人 KOL 反覆喬檔期。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講述順序:先 C(錨定)、再 B(先講每篇約 3,000 再講月費)、最後 A。被問總價:方案 B 首季總投入=60,000+65,000×3=NT$255,000,分三段付(60K/65K/130K)。被問首季均攤:穩定營運後每篇約 3,000;首季含 IP 建置投資,均攤約 3,600——主動講,比被算出來好。85 折前提:第二人設共用策略與營運時段;若要求完全獨立產線,折扣改 95 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收尾:回到第一頁的問題——租,還是有?CTA 是免費諮詢與 3 週樣品。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jpeg"/><Relationship Id="rId8" Type="http://schemas.openxmlformats.org/officeDocument/2006/relationships/image" Target="../media/image-8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5592" y="6419088"/>
            <a:ext cx="3840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生成示意 · Iris Chen 陳芯語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1600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兌心科技 INSIGHT TECH ｜ 數位人 KOL 品牌顧問服務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05740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您的行銷預算,</a:t>
            </a:r>
            <a:endParaRPr lang="en-US" sz="3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買到的是「租」,</a:t>
            </a:r>
            <a:endParaRPr lang="en-US" sz="3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還是「有」?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892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真人業配與廣告,是租來的流量——合約結束,一切歸零。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 KOL,是永久歸屬品牌的資產。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方案與報價提案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VALUE — 為什麼值得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一筆預算,三層價值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2152" cy="448056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1783080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692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6968" y="2852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 IP,歸屬品牌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6968" y="3493008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人設、外型、聲音、帳號,依合約歸屬品牌名下。每一篇內容進入自有素材庫,可無限次二次利用——廣告投放、官網、產品頁。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417320"/>
            <a:ext cx="3502152" cy="448056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783080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64" y="190780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63440" y="2852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每篇內容約 NT$3,000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63440" y="3493008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已含策略、製作、排程與報告。傳統客製短影音,拍攝與剪輯多為另計項目——同樣預算,數倍的內容產能。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19872" y="1417320"/>
            <a:ext cx="3502152" cy="448056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17" name="Shape 13"/>
          <p:cNvSpPr/>
          <p:nvPr/>
        </p:nvSpPr>
        <p:spPr>
          <a:xfrm>
            <a:off x="8439912" y="1783080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636" y="190780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9912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成效循環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39912" y="2852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每週數據,汰弱留強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39912" y="3493008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以實際互動數據迭代選題與格式,表現落後的內容型式淘汰更新。內容方向持續進化,不是發了就算。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 — 同樣預算的三種去向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同樣的月預算,一年後剩下什麼?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以每月 NT$65,000、連續投入 12 個月為例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43032" cy="1298448"/>
          </a:xfrm>
          <a:prstGeom prst="roundRect">
            <a:avLst>
              <a:gd name="adj" fmla="val 4930"/>
            </a:avLst>
          </a:prstGeom>
          <a:solidFill>
            <a:srgbClr val="1A244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56232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 KOL 業配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856232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換得數篇業配貼文與短期曝光;素材授權到期後不能再使用,粉絲留在對方帳號。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66760" y="1856232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剩下:0 項資產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172968"/>
            <a:ext cx="10543032" cy="1298448"/>
          </a:xfrm>
          <a:prstGeom prst="roundRect">
            <a:avLst>
              <a:gd name="adj" fmla="val 4930"/>
            </a:avLst>
          </a:prstGeom>
          <a:solidFill>
            <a:srgbClr val="1A244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37560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廣告投放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3337560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曝光確定、可量測;但停止投放即歸零,而且廣告素材仍需另行付費製作。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66760" y="3337560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剩下:0 項資產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654296"/>
            <a:ext cx="10543032" cy="1298448"/>
          </a:xfrm>
          <a:prstGeom prst="roundRect">
            <a:avLst>
              <a:gd name="adj" fmla="val 4930"/>
            </a:avLst>
          </a:prstGeom>
          <a:solidFill>
            <a:srgbClr val="1E6E6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18888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數位人 KOL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03320" y="4818888"/>
            <a:ext cx="4480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260+ 篇自有素材(依方案 B 月約 22 篇估算)、6 個經營中的帳號、1 套人設規範與內容生產流程。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48188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剩下:全部,歸品牌名下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DIFFERENTIATION — 跟一般代操比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跟一般社群代操,差在哪?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9184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傳統社群代操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0664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兌心 數位人 KOL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627632"/>
            <a:ext cx="10543032" cy="731520"/>
          </a:xfrm>
          <a:prstGeom prst="roundRect">
            <a:avLst>
              <a:gd name="adj" fmla="val 7500"/>
            </a:avLst>
          </a:prstGeom>
          <a:solidFill>
            <a:srgbClr val="1A244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007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專屬代言人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7007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無——內容掛在品牌帳號名下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7007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專屬數位人角色 IP,永久歸屬品牌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487168"/>
            <a:ext cx="10543032" cy="731520"/>
          </a:xfrm>
          <a:prstGeom prst="roundRect">
            <a:avLst>
              <a:gd name="adj" fmla="val 7500"/>
            </a:avLst>
          </a:prstGeom>
          <a:solidFill>
            <a:srgbClr val="1A244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603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短影音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56032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多數另計(+NT$1-2 萬/月)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方案內建,每週 1-2 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46704"/>
            <a:ext cx="10543032" cy="731520"/>
          </a:xfrm>
          <a:prstGeom prst="roundRect">
            <a:avLst>
              <a:gd name="adj" fmla="val 7500"/>
            </a:avLst>
          </a:prstGeom>
          <a:solidFill>
            <a:srgbClr val="1A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1985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發布執行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91840" y="341985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人工排程,單一平台為主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341985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核心素材依平台格式再製,自動化 6 平台發布,準時率 ≥95%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10543032" cy="731520"/>
          </a:xfrm>
          <a:prstGeom prst="roundRect">
            <a:avLst>
              <a:gd name="adj" fmla="val 7500"/>
            </a:avLst>
          </a:prstGeom>
          <a:solidFill>
            <a:srgbClr val="1A244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793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敏感產業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91840" y="42793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多數不承接,或有真人形象風險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42793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合規紅線框架,有實際營運中案例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65776"/>
            <a:ext cx="10543032" cy="731520"/>
          </a:xfrm>
          <a:prstGeom prst="roundRect">
            <a:avLst>
              <a:gd name="adj" fmla="val 7500"/>
            </a:avLst>
          </a:prstGeom>
          <a:solidFill>
            <a:srgbClr val="1A244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1389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一年後剩下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91840" y="51389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貼文存檔;素材授權範圍依約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51389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素材庫+帳號+角色 IP,全歸品牌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080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台灣社群代操行情約 NT$20,000-50,000/月(圖文為主);我們的方案 NT$35,000 起,已內建專屬人設與每週短影音。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01 — 形象型數位人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Iris Chen 陳芯語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15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 IT Girl・生活時尚數位人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「今天又要去尋找寶藏咖啡廳!」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423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穿搭日常・台北生活・咖啡廳探店・朋友聚會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人設語氣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溫暖隨性,話不多,讓畫面說話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內容形式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4160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生活系列照、15-45 秒 Reels、舞蹈短影音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經營平台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5029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Instagram / TikTok / X 及自有社群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2395728" cy="420624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08" y="1371600"/>
            <a:ext cx="2395728" cy="42062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571500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以上皆為 AI 生成之角色參考圖與情境圖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同一人設可延伸為動態影片與舞蹈短片,展示影片可於會議中播放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02 — 知識型數位人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Tan XiaoXiao 陳曉曉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15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規則研究室・機率與決策數位人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「今天,你發現規則了嗎?」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博弈規則拆解・機率思維・反直覺決策故事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人設語氣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090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沉穩理性,言簡意賅,偶爾一針見血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0390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內容形式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803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40-60 秒口播影片(專屬克隆音色)、圖文貼文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51713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經營平台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4517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 / IG / Threads / X / TikTok / YouTube 六平台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合規把關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5230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紅線框架:只談規則與文化,不談玩法與收益</a:t>
            </a:r>
            <a:endParaRPr lang="en-US" sz="13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2395728" cy="420624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08" y="1371600"/>
            <a:ext cx="2395728" cy="42062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571500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左:人設定裝照|右:實際發布貼文之配圖(皆 AI 生成)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實際營運中:每日更新、六平台自動發布——本人設即為「真人不便代言產業」的實證案例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ENGINE — 我們自己的帳號,方法攤開給您看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從零開始,怎麼找出有效內容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實際營運中的 3 個人設 · 2026/7/15–8/7 · 111 篇已發布素材 · 全程零廣告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02152" cy="3474720"/>
          </a:xfrm>
          <a:prstGeom prst="roundRect">
            <a:avLst>
              <a:gd name="adj" fmla="val 2368"/>
            </a:avLst>
          </a:prstGeom>
          <a:solidFill>
            <a:srgbClr val="1A2440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 · 測試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全平台鋪量,建立基準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9260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人設 × 6 平台,23 天發布 111 篇素材;冷啟動首兩週單帳號 IG 自然觸及 439-529(零廣告、零既有粉絲)。所有數據每週原樣呈報。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4612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43400" y="1691640"/>
            <a:ext cx="3502152" cy="3474720"/>
          </a:xfrm>
          <a:prstGeom prst="roundRect">
            <a:avLst>
              <a:gd name="adj" fmla="val 2368"/>
            </a:avLst>
          </a:prstGeom>
          <a:solidFill>
            <a:srgbClr val="1A2440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 · 訊號 SIGNAL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數據裡找出贏家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29260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「反直覺知識+生活場景+拋問句」公式的互動率,明顯高於純生活紀錄類(後者普遍 &lt;1%);TikTok 單篇觸及是其他平台的 3-5 倍;YouTube 互動率最高。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324612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19872" y="1691640"/>
            <a:ext cx="3502152" cy="3474720"/>
          </a:xfrm>
          <a:prstGeom prst="roundRect">
            <a:avLst>
              <a:gd name="adj" fmla="val 2368"/>
            </a:avLst>
          </a:prstGeom>
          <a:solidFill>
            <a:srgbClr val="1A2440"/>
          </a:solidFill>
          <a:ln/>
        </p:spPr>
      </p:sp>
      <p:sp>
        <p:nvSpPr>
          <p:cNvPr id="16" name="Text 12"/>
          <p:cNvSpPr/>
          <p:nvPr/>
        </p:nvSpPr>
        <p:spPr>
          <a:xfrm>
            <a:off x="8439912" y="19385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 · 放大 SCALE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439912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汰弱留強,重壓贏家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439912" y="29260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圖文文案全面改用反直覺鉤子公式;配圖依對標研究改走圖表/縮圖風格;剪輯資源優先投入 TikTok。表現連續落後的內容型式,直接淘汰。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54406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我們賣的不是「保證流量」,是這套 測試 → 訊號 → 放大 的系統。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BF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它已經在真實帳號上運轉,而您每週的報告,就是這個循環的輸出。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ROSTER — 多元賽道的人設庫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20+ 個人設設計經驗,依品牌量身打造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2103120" cy="1783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Luna Tanaka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5156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京都・日系美學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63040"/>
            <a:ext cx="2103120" cy="1783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Yuna Kim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首爾・K-beauty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2103120" cy="1783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364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Ananya Kapoor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26364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孟買・瑜伽舞蹈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463040"/>
            <a:ext cx="2103120" cy="1783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69680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Camille Dupont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86968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巴黎・法式慢生活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977640"/>
            <a:ext cx="2103120" cy="17830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5806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Aaliya Rivera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051560" y="6099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洛杉磯・拉丁生活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977640"/>
            <a:ext cx="2103120" cy="17830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57600" y="5806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Vicky Lin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3657600" y="6099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高雄・健身重訓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977640"/>
            <a:ext cx="2103120" cy="17830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63640" y="5806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Faye Tan 陳曉菲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263640" y="6099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世界城市觀察者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977640"/>
            <a:ext cx="2103120" cy="17830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869680" y="5806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Zhang Qinfeng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8869680" y="6099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數字體驗觀察者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以上皆為 AI 生成之虛擬人物示意;實際人設將依品牌調性與市場量身設計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FIT — 誰最適合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什麼樣的品牌,最適合數位人 KOL?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43032" cy="1417320"/>
          </a:xfrm>
          <a:prstGeom prst="roundRect">
            <a:avLst>
              <a:gd name="adj" fmla="val 4516"/>
            </a:avLst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75104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724" y="2099828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556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真人代言不便的產業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0" y="17373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合規敏感、爭議品類:真人 KOL 不願接、接了也有形象風險。數位人設可安全長期經營——我們已有實際營運中的案例與合規框架(見 CASE 02)。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10543032" cy="1417320"/>
          </a:xfrm>
          <a:prstGeom prst="roundRect">
            <a:avLst>
              <a:gd name="adj" fmla="val 4516"/>
            </a:avLst>
          </a:prstGeom>
          <a:solidFill>
            <a:srgbClr val="1A2440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3575304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24" y="370002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3558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需要大量素材的品牌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486400" y="33375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多平台經營、廣告投放吃素材。數位人內容從第一天就能直接作為廣告素材,自然流量與付費流量互餵。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754880"/>
            <a:ext cx="10543032" cy="1417320"/>
          </a:xfrm>
          <a:prstGeom prst="roundRect">
            <a:avLst>
              <a:gd name="adj" fmla="val 4516"/>
            </a:avLst>
          </a:prstGeom>
          <a:solidFill>
            <a:srgbClr val="1A244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43000" y="5175504"/>
            <a:ext cx="566928" cy="566928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24" y="5300228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956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想擁有自己 IP 的品牌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486400" y="49377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不受檔期、地點與拍攝安排限制,可多語言複製、零緋聞、永不跳槽的虛擬代言人——把行銷預算變成長期累積的品牌資產。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 — 品質不靠口頭承諾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四道品質保證機制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120640" cy="1938528"/>
          </a:xfrm>
          <a:prstGeom prst="roundRect">
            <a:avLst>
              <a:gd name="adj" fmla="val 3774"/>
            </a:avLst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18488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934" y="1731142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581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事前｜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標準先簽核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0253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人設設定、內容方向、視覺規範,建置期由您簽核定案——「好內容」先有白紙黑字的定義。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325880"/>
            <a:ext cx="5120640" cy="1938528"/>
          </a:xfrm>
          <a:prstGeom prst="roundRect">
            <a:avLst>
              <a:gd name="adj" fmla="val 3774"/>
            </a:avLst>
          </a:prstGeom>
          <a:solidFill>
            <a:srgbClr val="1A2440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618488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26" y="173114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581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事中｜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客觀驗收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05472" y="200253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每篇素材通過驗收檢核表(規格、字幕、人設一致性、合規);未達標我們自費重做,不占您的修改次數。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447288"/>
            <a:ext cx="5120640" cy="1938528"/>
          </a:xfrm>
          <a:prstGeom prst="roundRect">
            <a:avLst>
              <a:gd name="adj" fmla="val 3774"/>
            </a:avLst>
          </a:prstGeom>
          <a:solidFill>
            <a:srgbClr val="1A2440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3739896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934" y="3852550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03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事後｜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數據汰換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12394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每週報告表現前、後 20% 的內容分析;連續落後的內容型式直接淘汰更新。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3447288"/>
            <a:ext cx="5120640" cy="1938528"/>
          </a:xfrm>
          <a:prstGeom prst="roundRect">
            <a:avLst>
              <a:gd name="adj" fmla="val 3774"/>
            </a:avLst>
          </a:prstGeom>
          <a:solidFill>
            <a:srgbClr val="1A2440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9672" y="3739896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26" y="3852550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703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合約｜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天檢核點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05472" y="412394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季約啟動只收首月;首月若產量或驗收未達標,您可終止合約,後續兩個月完全不收費。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5715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「我們不保證爆紅;保證的是量、準時率、驗收標準,和您 30 天的退場權。」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 — 低風險的合作方式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先看樣品,再決定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343400" cy="4069080"/>
          </a:xfrm>
          <a:prstGeom prst="roundRect">
            <a:avLst>
              <a:gd name="adj" fmla="val 2022"/>
            </a:avLst>
          </a:prstGeom>
          <a:solidFill>
            <a:srgbClr val="1A244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· PILOT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建置＋試營運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NT$60,000</a:t>
            </a:r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一次性 · 約 3 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3090672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專屬人設設計(外型/個性/聲音)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平台帳號以您的名義開通(我們全程引導),串接統一管理系統——帳號從第一天起就是您的資產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4-6 篇正式規格內容,實際發布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首波成效數據報告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1089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30368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滿意樣品與數據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再進入季度合作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22592" y="1463040"/>
            <a:ext cx="4343400" cy="4069080"/>
          </a:xfrm>
          <a:prstGeom prst="roundRect">
            <a:avLst>
              <a:gd name="adj" fmla="val 2022"/>
            </a:avLst>
          </a:prstGeom>
          <a:solidFill>
            <a:srgbClr val="1A2440"/>
          </a:solidFill>
          <a:ln w="19050">
            <a:solidFill>
              <a:srgbClr val="35C2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4263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· RETAINER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42632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季度營運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42632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個月一約 · 方案見下頁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42632" y="3090672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分段付款:啟動時只收首月;通過 30 天檢核,才收其餘兩個月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每週固定產出,素材依平台格式再製、自動發布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每月內容行事曆一次審核+週報月報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天雙保險:未達標退場退款;達標您仍可選擇不續後續月份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589788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即使不續約,人設資產照樣移轉給您——這筆建置費買到的東西不會消失。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ONBOARDING — 您的時間成本,很低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三週上線,您只需要 3 次確認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2152" cy="365760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029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人設提案與簽核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06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我們交付人設設定(外型、個性、聲音方向)與內容規劃,由您簽核定案。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您要做的: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次確認會議+依指引以品牌名義開通帳號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02152" cy="365760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029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定裝與系統串接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視覺定裝照、專屬克隆聲音完成;帳號綁入自動化管理系統。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您要做的: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定裝與聲音確認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417320"/>
            <a:ext cx="3502152" cy="3657600"/>
          </a:xfrm>
          <a:prstGeom prst="roundRect">
            <a:avLst>
              <a:gd name="adj" fmla="val 2350"/>
            </a:avLst>
          </a:prstGeom>
          <a:solidFill>
            <a:srgbClr val="1A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39912" y="2029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樣品發布與數據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9912" y="2606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4-6 篇正式規格內容實際發布,交付首波成效數據報告。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39912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您要做的: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驗收樣品,決定是否進入季度合作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1E6E6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48640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進入季度營運後,您每月只需要約 2 小時</a:t>
            </a:r>
            <a:pPr algn="ctr" indent="0" marL="0">
              <a:buNone/>
            </a:pPr>
            <a:r>
              <a:rPr lang="en-US" sz="1350" dirty="0">
                <a:solidFill>
                  <a:srgbClr val="EAF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:月初 1 次內容行事曆審核+素材確認。其餘,我們處理。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PLANS — 季度營運方案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方案與報價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3401568" cy="3931920"/>
          </a:xfrm>
          <a:prstGeom prst="roundRect">
            <a:avLst>
              <a:gd name="adj" fmla="val 2419"/>
            </a:avLst>
          </a:prstGeom>
          <a:solidFill>
            <a:srgbClr val="1A24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751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 C · 旗艦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旗艦客製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NT$110,000</a:t>
            </a:r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起 /月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438144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雙人設,或加量產出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直播企劃、廣告投放代操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專屬策略顧問與月度會議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223052"/>
          </a:solidFill>
          <a:ln w="25400">
            <a:solidFill>
              <a:srgbClr val="35C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60934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 B · 主推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190195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全平台影音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90288" y="239572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4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NT$65,000</a:t>
            </a:r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/月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90288" y="3072384"/>
            <a:ext cx="3035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大平台:FB / IG / Threads / TikTok / YouTube Shorts / X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 3 篇圖文＋2 支短影音(月約 22 篇)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每篇內容均攤 &lt;NT$3,000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週報＋月報(含對標帳號追蹤)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401568" cy="3931920"/>
          </a:xfrm>
          <a:prstGeom prst="roundRect">
            <a:avLst>
              <a:gd name="adj" fmla="val 2419"/>
            </a:avLst>
          </a:prstGeom>
          <a:solidFill>
            <a:srgbClr val="1A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344" y="19751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 A · 入門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67344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 基本盤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67344" y="276148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NT$35,000</a:t>
            </a:r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67344" y="3438144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 / IG / Threads 三平台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 3 篇圖文＋1 支短影音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每月成效報告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5943600"/>
            <a:ext cx="10954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一季一約,啟動收首月、30 天檢核通過後收餘款 ｜ 每素材內含 1 次修改 ｜ 第 2 位數位人月費 85 折 ｜ 半年約 95 折 ｜ 年約 9 折＋建置費半價折抵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C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— 您可能想問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43032" cy="1207008"/>
          </a:xfrm>
          <a:prstGeom prst="roundRect">
            <a:avLst>
              <a:gd name="adj" fmla="val 5303"/>
            </a:avLst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1709928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222" y="1822582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499616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帳號從零開始,沒有粉絲怎麼辦?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0" y="1499616"/>
            <a:ext cx="5486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內容從第一天就能作為廣告素材投放,自然與付費流量互餵冷啟動;也可加購廣告投放代操,由同一組內容直接放大。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10543032" cy="1207008"/>
          </a:xfrm>
          <a:prstGeom prst="roundRect">
            <a:avLst>
              <a:gd name="adj" fmla="val 5303"/>
            </a:avLst>
          </a:prstGeom>
          <a:solidFill>
            <a:srgbClr val="1A2440"/>
          </a:solidFill>
          <a:ln/>
        </p:spPr>
      </p:sp>
      <p:sp>
        <p:nvSpPr>
          <p:cNvPr id="10" name="Shape 7"/>
          <p:cNvSpPr/>
          <p:nvPr/>
        </p:nvSpPr>
        <p:spPr>
          <a:xfrm>
            <a:off x="1115568" y="3081528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22" y="319418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871216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生成內容,平台允許嗎?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2871216"/>
            <a:ext cx="5486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依各平台規範標示 AI 內容;建置期先與您書面定義產業紅線,我們的合規框架已有實際運行經驗。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4114800"/>
            <a:ext cx="10543032" cy="1207008"/>
          </a:xfrm>
          <a:prstGeom prst="roundRect">
            <a:avLst>
              <a:gd name="adj" fmla="val 5303"/>
            </a:avLst>
          </a:prstGeom>
          <a:solidFill>
            <a:srgbClr val="1A244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15568" y="4453128"/>
            <a:ext cx="512064" cy="512064"/>
          </a:xfrm>
          <a:prstGeom prst="ellipse">
            <a:avLst/>
          </a:prstGeom>
          <a:solidFill>
            <a:srgbClr val="1E6E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22" y="4565782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242816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如果做了效果不好?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4242816"/>
            <a:ext cx="5486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天雙保險:產量或驗收未達標,合約終止、後續兩個月完全不收費;即使達標,首月結束您仍可選擇不續後續月份(僅支付已執行部分)。每週數據報告全程透明。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5623560"/>
            <a:ext cx="10543032" cy="777240"/>
          </a:xfrm>
          <a:prstGeom prst="roundRect">
            <a:avLst>
              <a:gd name="adj" fmla="val 10588"/>
            </a:avLst>
          </a:prstGeom>
          <a:solidFill>
            <a:srgbClr val="1E6E64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6235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免費諮詢 → 3 週後,見到您的專屬數位人 KOL</a:t>
            </a:r>
            <a:pPr algn="ctr" indent="0" marL="0">
              <a:buNone/>
            </a:pPr>
            <a:r>
              <a:rPr lang="en-US" sz="1200" dirty="0">
                <a:solidFill>
                  <a:srgbClr val="BF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兌心科技 INSIGHT TECH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2026-08-11T06:41:39Z</dcterms:created>
  <dcterms:modified xsi:type="dcterms:W3CDTF">2026-08-11T06:41:39Z</dcterms:modified>
</cp:coreProperties>
</file>