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開場關鍵句:真人業配是租流量,數位 KOL 是蓋自己的房子。先讓客戶意識到「合約結束後剩下什麼」,再進價值說明。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關鍵句:每篇內容含策略與營運不到三千元——外面單拍一支影片一萬五起跳。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重點:真人與廣告買的是「觸及」,我們賣的是「資產」。客戶只要短期觸及→誠實告訴他廣告更適合(建立信任)。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Frank 定調的核心論述:賣的是引流(公域到私域),AI+自動化+IP 三個圈綁在一起。對比廣告時務必把「素材製作費+廣告預算」一起算,不要拿自然流量裸比廣告流量。待補:引流成本對比的實際數字(素材費行情、CPM 基準、我方自然流實績)。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客戶比價其他代操 agency:五行差異(代言人資產、影音內建、自動化、敏感產業、一年後歸屬)。客戶拿「一個月幾千塊的 AI 數字人工具」來比:那是自助工具,沒人維運、品質差、退單率高;我們賣的是含策略營運的服務+歸客戶的 IP 資產,品質差異直接看案例頁與展示間。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形象型路線:視覺導向、生活風格。提案時可播 dance/daily 影片檔(repo 內 kols/iris-chen/videos)。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知識型路線:口播+查證+合規。這就是第 7 頁「真人不便代言產業」的實證,提案時可展示實際帳號與發布記錄(依保密範圍)。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重點不是數字大小,是「有一套從零找出有效內容的系統」。被問細節時的真實案例:純生活紀錄類互動率 &lt;1% → 全面改用反直覺鉤子公式;對標帳號研究後配圖改圖表/縮圖風格;TikTok 觸及是其他平台 3-5 倍所以剪輯資源重壓 TikTok。數據口徑:111 篇為三人設全平台已發布素材(7/15-8/7);IG 冷啟動觸及為 7/28-8/9 單平台自然數據。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涵蓋生活風格、知識文化、健身、美妝等賽道;強調「依品牌需求量身設計」而不是從現成名單挑。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客群定調(2026-08-13 會議):主力是 B2C,B2B 傳產先往後擺、不必說服。大企業評估久、要求多;個體戶(房仲/賣車/不露臉的個人品牌)決策快,是重要新客群。若客戶只要短期轉單→誠實建議投廣告。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回答「AI 無效產出」疑慮:四道機制一道比一道硬,最後一道是合約級退場權。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關鍵句:先花 6 萬,3 週後看到您的 KOL 和 6 篇實際內容+數據,再決定要不要包季。收款:簽約一次收齊(建置 60K+季費 195K);每 30 天檢核點客戶可終止、退未執行月份餘款——最壞情況客戶實付 125K。試營運結束後三條路:①簽季約續營 ②不續約但之後可單購素材(沿用加購價:影片 6,000/支、圖文 1,500/篇,待確認)③結束,資產照樣歸客戶。談判讓步工具(不主動給):Pilot 結束 7 天內簽季約,60K 折抵 20K;地板價依內部文件。帳號由客戶名義開通(我們全程引導),合約結束不需任何移交。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回答客戶沒說出口的疑慮:「我要花多少時間配合?」——每月 2 小時是強賣點,對比自建小編團隊或跟真人 KOL 反覆喬檔期。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講述順序:先 C(錨定)、再 B(先講每篇約 3,000 再講月費)、最後 A。被問總價:方案 B 首季總投入=60,000+65,000×3=NT$255,000,分三段付(60K/65K/130K)。被問首季均攤:穩定營運後每篇約 3,000;首季含 IP 建置投資,均攤約 3,600——主動講,比被算出來好。85 折前提:第二人設共用策略與營運時段;若要求完全獨立產線,折扣改 95 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收尾:回到第一頁的問題——租,還是有?CTA 是免費諮詢與 3 週樣品。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image" Target="../media/image-9-7.jpeg"/><Relationship Id="rId8" Type="http://schemas.openxmlformats.org/officeDocument/2006/relationships/image" Target="../media/image-9-8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65592" y="6419088"/>
            <a:ext cx="384048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生成示意 · Iris Chen 陳芯語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16002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兌心科技 INSIGHT TECH ｜ 數位人 KOL 品牌顧問服務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2057400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您的行銷預算,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買到的是「租」,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還是「有」?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892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真人業配與廣告,是租來的流量——合約結束,一切歸零。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KOL,是永久歸屬品牌的資產。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方案與報價提案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VALUE — 為什麼值得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一筆預算,三層價值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886968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692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86968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 IP,歸屬品牌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人設、外型、聲音、帳號,依合約歸屬品牌名下。每一篇內容進入自有素材庫,可無限次二次利用——廣告投放、官網、產品頁。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078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產能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63440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每篇內容約 NT$3,000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已含策略、製作、排程與報告。傳統客製短影音,拍攝與剪輯多為另計項目——同樣預算,數倍的內容產能。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19872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7" name="Shape 13"/>
          <p:cNvSpPr/>
          <p:nvPr/>
        </p:nvSpPr>
        <p:spPr>
          <a:xfrm>
            <a:off x="8439912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636" y="1907804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9912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成效循環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8439912" y="2852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每週數據,汰弱留強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39912" y="3493008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以實際互動數據迭代選題與格式,表現落後的內容型式淘汰更新。內容方向持續進化,不是發了就算。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 — 同樣預算的三種去向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同樣的月預算,一年後剩下什麼?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以每月 NT$65,000、連續投入 12 個月為例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A2440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56232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 KOL 業配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03320" y="1856232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藝人同時服務多個品牌;素材授權到期不能再用、粉絲留在對方帳號,還有形象翻車風險。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66760" y="1856232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剩下:0 項資產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72968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337560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廣告投放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03320" y="3337560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曝光確定、可量測;但停止投放即歸零,而且廣告素材仍需另行付費製作。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366760" y="3337560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剩下:0 項資產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654296"/>
            <a:ext cx="10543032" cy="1298448"/>
          </a:xfrm>
          <a:prstGeom prst="roundRect">
            <a:avLst>
              <a:gd name="adj" fmla="val 4930"/>
            </a:avLst>
          </a:prstGeom>
          <a:solidFill>
            <a:srgbClr val="1E6E64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18888"/>
            <a:ext cx="2468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03320" y="4818888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260+ 篇自有素材(依方案 B 月約 22 篇估算)、6 個經營中的帳號、1 套人設規範與內容生產流程。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66760" y="4818888"/>
            <a:ext cx="2743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剩下:全部,歸品牌名下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TRAFFIC — 這門服務的本質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說到底,您買的是「引流」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把公域平台的流量,持續導進您自己的私域——靠的是三件事的加成: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2286000" cy="2286000"/>
          </a:xfrm>
          <a:prstGeom prst="ellipse">
            <a:avLst/>
          </a:prstGeom>
          <a:solidFill>
            <a:srgbClr val="35C2B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1874520"/>
            <a:ext cx="2286000" cy="2286000"/>
          </a:xfrm>
          <a:prstGeom prst="ellipse">
            <a:avLst/>
          </a:prstGeom>
          <a:solidFill>
            <a:srgbClr val="35C2B0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90472" y="3063240"/>
            <a:ext cx="2286000" cy="2286000"/>
          </a:xfrm>
          <a:prstGeom prst="ellipse">
            <a:avLst/>
          </a:prstGeom>
          <a:solidFill>
            <a:srgbClr val="35C2B0">
              <a:alpha val="2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內容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排程發布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64792" y="38404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 IP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三件事綁在一起,流量才會「持續、自然、有人味」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189280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只投廣告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955280" y="189280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每一次曝光都要再付錢:廣告預算之外,素材還要另外花錢製作;停止投放,流量當天歸零。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0" y="320040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E6E64"/>
          </a:solidFill>
          <a:ln/>
        </p:spPr>
      </p:sp>
      <p:sp>
        <p:nvSpPr>
          <p:cNvPr id="16" name="Text 14"/>
          <p:cNvSpPr/>
          <p:nvPr/>
        </p:nvSpPr>
        <p:spPr>
          <a:xfrm>
            <a:off x="6053328" y="331012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 引流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55280" y="331012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內容持續累積在您的帳號上,不投放也有自然流量;粉絲與聲量留在私域,越經營越厚。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760720" y="461772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6053328" y="472744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兩者其實不互斥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55280" y="472744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自然流打底、廣告放大——我們產的素材可以直接拿去投廣告,省下另做廣告素材的錢。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1722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成效以「公域曝光 → 私域名單/轉化」為衡量軸,每週報告攤開對比。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DIFFERENTIATION — 跟一般代操比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跟一般社群代操,差在哪?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918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傳統社群代操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 數位人 KOL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1627632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0078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專屬代言人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291840" y="170078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無——內容掛在品牌帳號名下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0" y="1700784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專屬數位人角色 IP,永久歸屬品牌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487168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56032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291840" y="256032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多數另計(+NT$1-2 萬/月)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06640" y="2560320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方案內建,每週 1-2 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46704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41985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發布執行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91840" y="341985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人工排程,單一平台為主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06640" y="3419856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核心素材依平台格式再製,自動化 6 平台發布,準時率 ≥95%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4206240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2793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敏感產業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291840" y="42793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多數不承接,或有真人形象風險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4279392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合規紅線框架,有實際營運中案例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5065776"/>
            <a:ext cx="10543032" cy="731520"/>
          </a:xfrm>
          <a:prstGeom prst="roundRect">
            <a:avLst>
              <a:gd name="adj" fmla="val 7500"/>
            </a:avLst>
          </a:prstGeom>
          <a:solidFill>
            <a:srgbClr val="1A2440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513892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一年後剩下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291840" y="513892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貼文存檔;素材授權範圍依約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5138928"/>
            <a:ext cx="3931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素材庫+帳號+角色 IP,全歸品牌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60807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台灣代操行情約 NT$20,000-50,000/月(圖文為主);市面數千元級 AI 數字人工具則是自助生成——無人設規劃、無營運維護、無品質與合規把關。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01 — 形象型數位人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Iris Chen 陳芯語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台北 IT Girl・生活時尚數位人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「今天又要去尋找寶藏咖啡廳!」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4231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穿搭日常・台北生活・咖啡廳探店・朋友聚會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溫暖隨性,話不多,讓畫面說話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4160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生活系列照、15-45 秒 Reels、舞蹈短影音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5029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Instagram / TikTok / X 及自有社群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生成之角色參考圖與情境圖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同一人設可延伸為動態影片與舞蹈短片,展示影片可於會議中播放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02 — 知識型數位人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 XiaoXiao 陳曉曉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規則研究室・機率與決策數位人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「今天,你發現規則了嗎?」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博弈規則拆解・機率思維・反直覺決策故事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0906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沉穩理性,言簡意賅,偶爾一針見血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40-60 秒口播影片(專屬克隆音色)、圖文貼文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4517136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451713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/ X / TikTok / YouTube 六平台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523036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合規把關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5230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紅線框架:只談規則與文化,不談玩法與收益</a:t>
            </a:r>
            <a:endParaRPr lang="en-US" sz="13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左:人設定裝照|右:實際發布貼文之配圖(皆 AI 生成)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實際營運中:每日更新、六平台自動發布——本人設即為「真人不便代言產業」的實證案例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LEARNING ENGINE — 我們自己的帳號,方法攤開給您看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從零開始,怎麼找出有效內容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實際營運中的 3 個人設 · 2026/7/15–8/7 · 111 篇已發布素材 · 全程零廣告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 · 測試 BASELINE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全平台鋪量,建立基準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86968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人設 × 6 平台,23 天發布 111 篇素材;冷啟動首兩週單帳號 IG 自然觸及 439-529(零廣告、零既有粉絲)。所有數據每週原樣呈報。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3246120"/>
            <a:ext cx="320040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1" name="Text 8"/>
          <p:cNvSpPr/>
          <p:nvPr/>
        </p:nvSpPr>
        <p:spPr>
          <a:xfrm>
            <a:off x="4663440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 · 訊號 SIGNAL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663440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數據裡找出贏家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663440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「反直覺知識+生活場景+拋問句」公式的互動率,明顯高於純生活紀錄類(後者普遍 &lt;1%);TikTok 單篇觸及是其他平台的 3-5 倍;YouTube 互動率最高。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3246120"/>
            <a:ext cx="320040" cy="3200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19872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6" name="Text 12"/>
          <p:cNvSpPr/>
          <p:nvPr/>
        </p:nvSpPr>
        <p:spPr>
          <a:xfrm>
            <a:off x="8439912" y="193852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 · 放大 SCALE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439912" y="2286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汰弱留強,重壓贏家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8439912" y="29260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圖文文案全面改用反直覺鉤子公式;配圖依對標研究改走圖表/縮圖風格;剪輯資源優先投入 TikTok。表現連續落後的內容型式,直接淘汰。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22960" y="544068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我們賣的不是「保證流量」,是這套 測試 → 訊號 → 放大 的系統。</a:t>
            </a:r>
            <a:endParaRPr lang="en-US" sz="13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它已經在真實帳號上運轉,而您每週的報告,就是這個循環的輸出。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ROSTER — 多元賽道的人設庫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20+ 個人設設計經驗,依品牌量身打造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63040"/>
            <a:ext cx="2103120" cy="1783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Luna Tanaka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5156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京都・日系美學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463040"/>
            <a:ext cx="2103120" cy="1783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Yuna Kim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首爾・K-beauty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2103120" cy="1783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6364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Ananya Kapoor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26364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孟買・瑜伽舞蹈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463040"/>
            <a:ext cx="2103120" cy="1783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6968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Camille Dupont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886968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巴黎・法式慢生活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977640"/>
            <a:ext cx="2103120" cy="17830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Aaliya Rivera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05156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洛杉磯・拉丁生活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3977640"/>
            <a:ext cx="2103120" cy="178308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65760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Vicky Lin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365760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高雄・健身重訓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3977640"/>
            <a:ext cx="2103120" cy="17830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6364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Faye Tan 陳曉菲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26364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世界城市觀察者</a:t>
            </a:r>
            <a:endParaRPr lang="en-US" sz="10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3977640"/>
            <a:ext cx="2103120" cy="17830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86968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Zhang Qinfeng</a:t>
            </a:r>
            <a:endParaRPr lang="en-US" sz="1300" dirty="0"/>
          </a:p>
        </p:txBody>
      </p:sp>
      <p:sp>
        <p:nvSpPr>
          <p:cNvPr id="27" name="Text 17"/>
          <p:cNvSpPr/>
          <p:nvPr/>
        </p:nvSpPr>
        <p:spPr>
          <a:xfrm>
            <a:off x="886968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數字體驗觀察者</a:t>
            </a:r>
            <a:endParaRPr lang="en-US" sz="1050" dirty="0"/>
          </a:p>
        </p:txBody>
      </p:sp>
      <p:sp>
        <p:nvSpPr>
          <p:cNvPr id="28" name="Text 18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生成之虛擬人物示意;實際人設將依品牌調性與市場量身設計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 — 誰最適合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 B2C 的品牌與生意人而設計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開店、餐飲、保健品、旅遊旅宿、遊戲、金融服務、交易所——直接面對消費者的生意,才需要持續說故事。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093976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24" y="22187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874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要說故事的 2C 品牌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0" y="185623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消費者買的是故事與信任,但找不到人持續說、也養不起內容團隊。數位人 KOL 用固定人設替品牌每週說故事,素材同時餵養廣告投放。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36118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24" y="37366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39242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不想露臉的個體戶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3374136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房仲、車商、保險、專業服務者:想經營個人品牌帶客,卻不想露臉或沒時間拍片。一個專屬數位分身,替您全年開發客源。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727448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6" name="Shape 12"/>
          <p:cNvSpPr/>
          <p:nvPr/>
        </p:nvSpPr>
        <p:spPr>
          <a:xfrm>
            <a:off x="1143000" y="512978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24" y="5254508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491032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真人代言不便的產業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486400" y="48920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合規敏感、爭議品類:真人 KOL 不願接、接了也有翻車風險。數位人設可安全長期經營——我們已有實際營運中的案例與合規框架(見 CASE 02)。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QUALITY — 品質不靠口頭承諾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四道品質保證機制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934" y="173114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事前｜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標準先簽核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人設設定、內容方向、視覺規範,建置期由您簽核定案——「好內容」先有白紙黑字的定義。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5352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26" y="173114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事中｜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客觀驗收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205472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每篇素材通過驗收檢核表(規格、字幕、人設一致性、合規);未達標我們自費重做,不占您的修改次數。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934" y="3852550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事後｜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數據汰換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每週報告表現前、後 20% 的內容分析;連續落後的內容型式直接淘汰更新。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45352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20" name="Shape 15"/>
          <p:cNvSpPr/>
          <p:nvPr/>
        </p:nvSpPr>
        <p:spPr>
          <a:xfrm>
            <a:off x="6519672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326" y="3852550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05472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205472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合約期內每 30 天一個檢核點:效果不如預期,您可隨時於檢核點終止,未執行月份費用全額退還。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822960" y="57150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「我們不保證爆紅;保證的是量、準時率、驗收標準,和您 30 天的退場權。」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 — 低風險的合作方式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先看樣品,再決定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463040"/>
            <a:ext cx="4343400" cy="4069080"/>
          </a:xfrm>
          <a:prstGeom prst="roundRect">
            <a:avLst>
              <a:gd name="adj" fmla="val 2022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· PILOT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2057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建置＋試營運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43000" y="2542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NT$60,000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一次性 · 約 3 週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090672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專屬人設設計(外型/個性/聲音)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平台帳號以您的名義開通(我們全程引導),串接統一管理系統——帳號從第一天起就是您的資產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4-6 篇正式規格內容,實際發布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首波成效數據報告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31089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30368" y="3703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滿意樣品與數據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再進入季度合作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022592" y="1463040"/>
            <a:ext cx="4343400" cy="4069080"/>
          </a:xfrm>
          <a:prstGeom prst="roundRect">
            <a:avLst>
              <a:gd name="adj" fmla="val 2022"/>
            </a:avLst>
          </a:prstGeom>
          <a:solidFill>
            <a:srgbClr val="1A2440"/>
          </a:solidFill>
          <a:ln w="19050">
            <a:solidFill>
              <a:srgbClr val="35C2B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42632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· RETAINER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42632" y="2057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季度營運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342632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個月一約 · 方案見下頁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42632" y="3090672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每週固定產出,素材依平台格式再製、自動發布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每月內容行事曆一次審核+週報月報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天檢核點:效果不如預期可終止,未執行月份全額退款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結束後仍可「單購素材」:同一人設,單買圖片與影片繼續用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2960" y="58978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無論走到哪一步,人設與素材資產都歸您——這筆投入買到的東西不會消失。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ONBOARDING — 您的時間成本,很低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三週上線,您只需要 3 次確認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6968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人設提案與簽核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86968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我們交付人設設定(外型、個性、聲音方向)與內容規劃,由您簽核定案。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6968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次確認會議+依指引以品牌名義開通帳號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定裝與系統串接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視覺定裝照、專屬克隆聲音完成;帳號綁入自動化管理系統。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定裝與聲音確認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9872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39912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39912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樣品發布與數據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39912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4-6 篇正式規格內容實際發布,交付首波成效數據報告。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39912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您要做的: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驗收樣品,決定是否進入季度合作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1E6E64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48640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進入季度營運後,您每月只需要約 2 小時</a:t>
            </a:r>
            <a:pPr algn="ctr" indent="0" marL="0"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:月初 1 次內容行事曆審核+素材確認。其餘,我們處理。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PLANS — 季度營運方案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C · 旗艦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旗艦客製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NT$110,000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起 /月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雙人設,或加量產出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直播企劃、廣告投放代操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專屬策略顧問與月度會議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223052"/>
          </a:solidFill>
          <a:ln w="25400">
            <a:solidFill>
              <a:srgbClr val="35C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1609344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B · 主推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90288" y="190195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全平台影音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0288" y="239572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90288" y="3072384"/>
            <a:ext cx="3035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大平台:FB / IG / Threads / TikTok / YouTube Shorts / X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篇圖文＋2 支短影音(月約 22 篇)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每篇內容均攤 &lt;NT$3,000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週報＋月報(含對標帳號追蹤)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A · 入門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67344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基本盤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67344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67344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三平台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篇圖文＋1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每月成效報告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5943600"/>
            <a:ext cx="1095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一季一約 ｜ 每 30 天檢核點可終止,退還未執行月份 ｜ 每素材內含 1 次修改 ｜ 第 2 位數位人月費 85 折 ｜ 半年約 95 折 ｜ 年約 9 折＋建置費半價折抵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Q&amp;A — 您可能想問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" y="17099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222" y="182258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4996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帳號從零開始,沒有粉絲怎麼辦?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23560" y="14996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內容從第一天就能作為廣告素材投放,自然與付費流量互餵冷啟動;也可加購廣告投放代操,由同一組內容直接放大。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27432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1115568" y="30815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22" y="319418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0240" y="28712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生成內容,平台允許嗎?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23560" y="28712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依各平台規範標示 AI 內容;建置期先與您書面定義產業紅線,我們的合規框架已有實際運行經驗。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" y="41148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115568" y="44531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222" y="4565782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2428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如果做了效果不好?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623560" y="42428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天一個檢核點:效果不如預期,您可於檢核點終止合約,未執行月份費用全額退還;每週數據報告全程透明,不用等到季末才知道。之後想用同一人設,還可以單購素材。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5623560"/>
            <a:ext cx="10543032" cy="777240"/>
          </a:xfrm>
          <a:prstGeom prst="roundRect">
            <a:avLst>
              <a:gd name="adj" fmla="val 10588"/>
            </a:avLst>
          </a:prstGeom>
          <a:solidFill>
            <a:srgbClr val="1E6E64"/>
          </a:solidFill>
          <a:ln/>
        </p:spPr>
      </p:sp>
      <p:sp>
        <p:nvSpPr>
          <p:cNvPr id="20" name="Text 15"/>
          <p:cNvSpPr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免費諮詢 → 3 週後,見到您的專屬數位人 KOL</a:t>
            </a:r>
            <a:pPr algn="ctr" indent="0" marL="0">
              <a:buNone/>
            </a:pPr>
            <a:r>
              <a:rPr lang="en-US" sz="120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兌心科技 INSIGHT TECH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2026-08-14T06:48:47Z</dcterms:created>
  <dcterms:modified xsi:type="dcterms:W3CDTF">2026-08-14T06:48:47Z</dcterms:modified>
</cp:coreProperties>
</file>